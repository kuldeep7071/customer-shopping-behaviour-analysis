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49492F-6535-BD5A-295E-2D07ACB6587B}">
          <p14:sldIdLst>
            <p14:sldId id="256"/>
            <p14:sldId id="257"/>
            <p14:sldId id="258"/>
          </p14:sldIdLst>
        </p14:section>
        <p14:section name="Findings" id="{41C8B94A-63F8-1E68-E4AF-2ECDF2120242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Actions" id="{85DAC3B6-BE19-4C3D-012C-3FCECF89F08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B2B34"/>
                </a:solidFill>
                <a:latin typeface="+mn-lt"/>
              </a:rPr>
              <a:t>Revenue by gender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gender (USD)</c:v>
                </c:pt>
              </c:strCache>
            </c:strRef>
          </c:tx>
          <c:spPr>
            <a:solidFill>
              <a:srgbClr val="0F6B6B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A7-2A49-9A0D-B9F8E8A995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B2B34"/>
                </a:solidFill>
                <a:latin typeface="+mn-lt"/>
              </a:rPr>
              <a:t>Revenue by age group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age group (USD)</c:v>
                </c:pt>
              </c:strCache>
            </c:strRef>
          </c:tx>
          <c:spPr>
            <a:solidFill>
              <a:srgbClr val="0F6B6B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18–31</c:v>
                </c:pt>
                <c:pt idx="1">
                  <c:v>32–44</c:v>
                </c:pt>
                <c:pt idx="2">
                  <c:v>45–57</c:v>
                </c:pt>
                <c:pt idx="3">
                  <c:v>58–70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55978</c:v>
                </c:pt>
                <c:pt idx="2">
                  <c:v>59197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0-E542-8C0B-AE444BA426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B2B34"/>
                </a:solidFill>
                <a:latin typeface="+mn-lt"/>
              </a:rPr>
              <a:t>Revenue by category (USD)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category (USD)</c:v>
                </c:pt>
              </c:strCache>
            </c:strRef>
          </c:tx>
          <c:spPr>
            <a:solidFill>
              <a:srgbClr val="0F6B6B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104264</c:v>
                </c:pt>
                <c:pt idx="1">
                  <c:v>74200</c:v>
                </c:pt>
                <c:pt idx="2">
                  <c:v>36093</c:v>
                </c:pt>
                <c:pt idx="3">
                  <c:v>18524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0E-0347-B673-CD91933327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B2B34"/>
                </a:solidFill>
                <a:latin typeface="+mn-lt"/>
              </a:rPr>
              <a:t>Highest discount rate by product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Highest discount rate by product (%)</c:v>
                </c:pt>
              </c:strCache>
            </c:strRef>
          </c:tx>
          <c:spPr>
            <a:solidFill>
              <a:srgbClr val="0F6B6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Hat</c:v>
                </c:pt>
                <c:pt idx="1">
                  <c:v>Sneakers</c:v>
                </c:pt>
                <c:pt idx="2">
                  <c:v>Coat</c:v>
                </c:pt>
                <c:pt idx="3">
                  <c:v>Sweater</c:v>
                </c:pt>
                <c:pt idx="4">
                  <c:v>Pants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AD-6D4A-8677-ADE51FF59F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lang="en-IN" sz="1400" b="0" i="0" u="none" strike="noStrike">
                <a:solidFill>
                  <a:srgbClr val="1B2B34"/>
                </a:solidFill>
                <a:latin typeface="+mn-lt"/>
              </a:rPr>
              <a:t>Customers by loyalty segment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by loyalty segment</c:v>
                </c:pt>
              </c:strCache>
            </c:strRef>
          </c:tx>
          <c:spPr>
            <a:solidFill>
              <a:srgbClr val="0F6B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B3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New (1)</c:v>
                </c:pt>
                <c:pt idx="1">
                  <c:v>Returning (2–10)</c:v>
                </c:pt>
                <c:pt idx="2">
                  <c:v>Loyal (11+)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</c:v>
                </c:pt>
                <c:pt idx="1">
                  <c:v>701</c:v>
                </c:pt>
                <c:pt idx="2">
                  <c:v>3116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EA-C945-BB0E-081048537A7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493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51206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10896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Retail Customer Behavior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Retail Customer Behavior Analysis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1089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Turning 3,900 shopping records into engagement and marketing strategy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6126480" y="91440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355080" y="10241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$233K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6" name="Stat 2"/>
          <p:cNvSpPr/>
          <p:nvPr/>
        </p:nvSpPr>
        <p:spPr>
          <a:xfrm>
            <a:off x="6126480" y="210312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55080" y="22128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3,900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customer records</a:t>
            </a:r>
            <a:endParaRPr lang="en-US" sz="1400" dirty="0"/>
          </a:p>
        </p:txBody>
      </p:sp>
      <p:sp>
        <p:nvSpPr>
          <p:cNvPr id="8" name="Stat 3"/>
          <p:cNvSpPr/>
          <p:nvPr/>
        </p:nvSpPr>
        <p:spPr>
          <a:xfrm>
            <a:off x="6126480" y="3291840"/>
            <a:ext cx="2560320" cy="100584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55080" y="34015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43%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bought with a discount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business problem</a:t>
            </a:r>
            <a:endParaRPr lang="en-US" sz="3400" dirty="0"/>
          </a:p>
        </p:txBody>
      </p:sp>
      <p:sp>
        <p:nvSpPr>
          <p:cNvPr id="3" name="Question card"/>
          <p:cNvSpPr/>
          <p:nvPr/>
        </p:nvSpPr>
        <p:spPr>
          <a:xfrm>
            <a:off x="457200" y="128016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THE QUESTION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the company use shopping data to spot trends, improve engagement, and optimize marketing and product strategy?</a:t>
            </a:r>
            <a:endParaRPr lang="en-US" sz="2000" dirty="0"/>
          </a:p>
        </p:txBody>
      </p:sp>
      <p:sp>
        <p:nvSpPr>
          <p:cNvPr id="6" name="Driver Discounts"/>
          <p:cNvSpPr/>
          <p:nvPr/>
        </p:nvSpPr>
        <p:spPr>
          <a:xfrm>
            <a:off x="4754880" y="128016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Discounts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74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 promotions change what people spend?</a:t>
            </a:r>
            <a:endParaRPr lang="en-US" sz="1400" dirty="0"/>
          </a:p>
        </p:txBody>
      </p:sp>
      <p:sp>
        <p:nvSpPr>
          <p:cNvPr id="9" name="Driver Reviews"/>
          <p:cNvSpPr/>
          <p:nvPr/>
        </p:nvSpPr>
        <p:spPr>
          <a:xfrm>
            <a:off x="6766560" y="128016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Reviews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874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Which products earn the best ratings?</a:t>
            </a:r>
            <a:endParaRPr lang="en-US" sz="1400" dirty="0"/>
          </a:p>
        </p:txBody>
      </p:sp>
      <p:sp>
        <p:nvSpPr>
          <p:cNvPr id="12" name="Driver Seasons"/>
          <p:cNvSpPr/>
          <p:nvPr/>
        </p:nvSpPr>
        <p:spPr>
          <a:xfrm>
            <a:off x="4754880" y="297180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136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Seasons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66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When does revenue peak?</a:t>
            </a:r>
            <a:endParaRPr lang="en-US" sz="1400" dirty="0"/>
          </a:p>
        </p:txBody>
      </p:sp>
      <p:sp>
        <p:nvSpPr>
          <p:cNvPr id="15" name="Driver Payments"/>
          <p:cNvSpPr/>
          <p:nvPr/>
        </p:nvSpPr>
        <p:spPr>
          <a:xfrm>
            <a:off x="6766560" y="2971800"/>
            <a:ext cx="192024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3136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Payments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3566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do customers prefer to pay?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raw data to insight</a:t>
            </a:r>
            <a:endParaRPr lang="en-US" sz="3400" dirty="0"/>
          </a:p>
        </p:txBody>
      </p:sp>
      <p:sp>
        <p:nvSpPr>
          <p:cNvPr id="3" name="Step row 1"/>
          <p:cNvSpPr/>
          <p:nvPr/>
        </p:nvSpPr>
        <p:spPr>
          <a:xfrm>
            <a:off x="457200" y="1234440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594360" y="13350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35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344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Raw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23444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3,900 rows × 18 columns of customer purchases (CSV)</a:t>
            </a:r>
            <a:endParaRPr lang="en-US" sz="1400" dirty="0"/>
          </a:p>
        </p:txBody>
      </p:sp>
      <p:sp>
        <p:nvSpPr>
          <p:cNvPr id="8" name="Step row 2"/>
          <p:cNvSpPr/>
          <p:nvPr/>
        </p:nvSpPr>
        <p:spPr>
          <a:xfrm>
            <a:off x="457200" y="1929384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9" name="Step number 2"/>
          <p:cNvSpPr/>
          <p:nvPr/>
        </p:nvSpPr>
        <p:spPr>
          <a:xfrm>
            <a:off x="594360" y="202996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92938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Clean (Python)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92938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37 missing ratings filled with the category median; columns standardized</a:t>
            </a:r>
            <a:endParaRPr lang="en-US" sz="1400" dirty="0"/>
          </a:p>
        </p:txBody>
      </p:sp>
      <p:sp>
        <p:nvSpPr>
          <p:cNvPr id="13" name="Step row 3"/>
          <p:cNvSpPr/>
          <p:nvPr/>
        </p:nvSpPr>
        <p:spPr>
          <a:xfrm>
            <a:off x="457200" y="2624328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14" name="Step number 3"/>
          <p:cNvSpPr/>
          <p:nvPr/>
        </p:nvSpPr>
        <p:spPr>
          <a:xfrm>
            <a:off x="594360" y="272491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724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6243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Engineer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62432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Age quartiles, purchase frequency in days, loyalty segments</a:t>
            </a:r>
            <a:endParaRPr lang="en-US" sz="1400" dirty="0"/>
          </a:p>
        </p:txBody>
      </p:sp>
      <p:sp>
        <p:nvSpPr>
          <p:cNvPr id="18" name="Step row 4"/>
          <p:cNvSpPr/>
          <p:nvPr/>
        </p:nvSpPr>
        <p:spPr>
          <a:xfrm>
            <a:off x="457200" y="3319272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19" name="Step number 4"/>
          <p:cNvSpPr/>
          <p:nvPr/>
        </p:nvSpPr>
        <p:spPr>
          <a:xfrm>
            <a:off x="594360" y="341985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31927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Query (MySQL)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3192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 business questions answered with SQL</a:t>
            </a:r>
            <a:endParaRPr lang="en-US" sz="1400" dirty="0"/>
          </a:p>
        </p:txBody>
      </p:sp>
      <p:sp>
        <p:nvSpPr>
          <p:cNvPr id="23" name="Step row 5"/>
          <p:cNvSpPr/>
          <p:nvPr/>
        </p:nvSpPr>
        <p:spPr>
          <a:xfrm>
            <a:off x="457200" y="4014216"/>
            <a:ext cx="8229600" cy="603504"/>
          </a:xfrm>
          <a:prstGeom prst="roundRect">
            <a:avLst>
              <a:gd name="adj" fmla="val 15152"/>
            </a:avLst>
          </a:prstGeom>
          <a:solidFill>
            <a:schemeClr val="bg2"/>
          </a:solidFill>
          <a:ln/>
        </p:spPr>
      </p:sp>
      <p:sp>
        <p:nvSpPr>
          <p:cNvPr id="24" name="Step number 5"/>
          <p:cNvSpPr/>
          <p:nvPr/>
        </p:nvSpPr>
        <p:spPr>
          <a:xfrm>
            <a:off x="594360" y="41148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4114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01421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Visualize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401421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Matplotlib dashboard: 14 charts plus KPI summary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Headline numbers</a:t>
            </a:r>
            <a:endParaRPr lang="en-US" sz="3400" dirty="0"/>
          </a:p>
        </p:txBody>
      </p:sp>
      <p:sp>
        <p:nvSpPr>
          <p:cNvPr id="3" name="KPI Total revenue"/>
          <p:cNvSpPr/>
          <p:nvPr/>
        </p:nvSpPr>
        <p:spPr>
          <a:xfrm>
            <a:off x="45720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$233,081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6" name="KPI Transactions"/>
          <p:cNvSpPr/>
          <p:nvPr/>
        </p:nvSpPr>
        <p:spPr>
          <a:xfrm>
            <a:off x="329184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9" name="KPI Average purchase"/>
          <p:cNvSpPr/>
          <p:nvPr/>
        </p:nvSpPr>
        <p:spPr>
          <a:xfrm>
            <a:off x="612648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5544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purchase</a:t>
            </a:r>
            <a:endParaRPr lang="en-US" sz="1400" dirty="0"/>
          </a:p>
        </p:txBody>
      </p:sp>
      <p:sp>
        <p:nvSpPr>
          <p:cNvPr id="12" name="KPI Average review rating"/>
          <p:cNvSpPr/>
          <p:nvPr/>
        </p:nvSpPr>
        <p:spPr>
          <a:xfrm>
            <a:off x="457200" y="297180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review rating</a:t>
            </a:r>
            <a:endParaRPr lang="en-US" sz="1400" dirty="0"/>
          </a:p>
        </p:txBody>
      </p:sp>
      <p:sp>
        <p:nvSpPr>
          <p:cNvPr id="15" name="KPI Purchases with a discount"/>
          <p:cNvSpPr/>
          <p:nvPr/>
        </p:nvSpPr>
        <p:spPr>
          <a:xfrm>
            <a:off x="3291840" y="297180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Purchases with a discount</a:t>
            </a:r>
            <a:endParaRPr lang="en-US" sz="1400" dirty="0"/>
          </a:p>
        </p:txBody>
      </p:sp>
      <p:sp>
        <p:nvSpPr>
          <p:cNvPr id="18" name="KPI Subscribers (27%)"/>
          <p:cNvSpPr/>
          <p:nvPr/>
        </p:nvSpPr>
        <p:spPr>
          <a:xfrm>
            <a:off x="6126480" y="297180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32461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1,053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Subscribers (27%)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Who is buying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3931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754880" y="1234440"/>
          <a:ext cx="39319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794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Men drive 68% of revenue ($157.9K), yet average spend is the same: $59.54 for men, $60.25 for women.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379476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Ages 18–31 lead with $62.1K (27%), but all four age groups sit within $6.4K of each other.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is selling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4572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keaway 1"/>
          <p:cNvSpPr/>
          <p:nvPr/>
        </p:nvSpPr>
        <p:spPr>
          <a:xfrm>
            <a:off x="5303520" y="1280160"/>
            <a:ext cx="33832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8016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12801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revenue comes from Clothing; with Accessories it is 77%</a:t>
            </a:r>
            <a:endParaRPr lang="en-US" sz="1400" dirty="0"/>
          </a:p>
        </p:txBody>
      </p:sp>
      <p:sp>
        <p:nvSpPr>
          <p:cNvPr id="7" name="Takeaway 2"/>
          <p:cNvSpPr/>
          <p:nvPr/>
        </p:nvSpPr>
        <p:spPr>
          <a:xfrm>
            <a:off x="5303520" y="2423160"/>
            <a:ext cx="33832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40680" y="242316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$10.4K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4231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Blouse is the top product; Shirt and Dress follow at $10.3K</a:t>
            </a:r>
            <a:endParaRPr lang="en-US" sz="1400" dirty="0"/>
          </a:p>
        </p:txBody>
      </p:sp>
      <p:sp>
        <p:nvSpPr>
          <p:cNvPr id="10" name="Takeaway 3"/>
          <p:cNvSpPr/>
          <p:nvPr/>
        </p:nvSpPr>
        <p:spPr>
          <a:xfrm>
            <a:off x="5303520" y="3566160"/>
            <a:ext cx="33832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40680" y="356616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3.86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629400" y="356616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Gloves earn the best rating; categories all rate 3.72–3.79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Discounts don't lift spend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4572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iscount stat 1"/>
          <p:cNvSpPr/>
          <p:nvPr/>
        </p:nvSpPr>
        <p:spPr>
          <a:xfrm>
            <a:off x="530352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0" y="1463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purchases used a discount, worth $99.4K</a:t>
            </a:r>
            <a:endParaRPr lang="en-US" sz="1400" dirty="0"/>
          </a:p>
        </p:txBody>
      </p:sp>
      <p:sp>
        <p:nvSpPr>
          <p:cNvPr id="7" name="Discount stat 2"/>
          <p:cNvSpPr/>
          <p:nvPr/>
        </p:nvSpPr>
        <p:spPr>
          <a:xfrm>
            <a:off x="5303520" y="3017520"/>
            <a:ext cx="3383280" cy="1600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$59.28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38862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average spend with a discount vs $60.13 without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Loyal, but not subscribed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34440"/>
          <a:ext cx="4572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Loyalty takeaway 1"/>
          <p:cNvSpPr/>
          <p:nvPr/>
        </p:nvSpPr>
        <p:spPr>
          <a:xfrm>
            <a:off x="5303520" y="1280160"/>
            <a:ext cx="33832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801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280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are Loyal; only 2% are New customers</a:t>
            </a:r>
            <a:endParaRPr lang="en-US" sz="1400" dirty="0"/>
          </a:p>
        </p:txBody>
      </p:sp>
      <p:sp>
        <p:nvSpPr>
          <p:cNvPr id="7" name="Loyalty takeaway 2"/>
          <p:cNvSpPr/>
          <p:nvPr/>
        </p:nvSpPr>
        <p:spPr>
          <a:xfrm>
            <a:off x="5303520" y="2423160"/>
            <a:ext cx="33832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40680" y="24231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$59.49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2423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subscriber spend vs $59.87 for non-subscribers</a:t>
            </a:r>
            <a:endParaRPr lang="en-US" sz="1400" dirty="0"/>
          </a:p>
        </p:txBody>
      </p:sp>
      <p:sp>
        <p:nvSpPr>
          <p:cNvPr id="10" name="Loyalty takeaway 3"/>
          <p:cNvSpPr/>
          <p:nvPr/>
        </p:nvSpPr>
        <p:spPr>
          <a:xfrm>
            <a:off x="5303520" y="3566160"/>
            <a:ext cx="338328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40680" y="35661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1,248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5661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women subscribe, against 40% of men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they shop</a:t>
            </a:r>
            <a:endParaRPr lang="en-US" sz="3400" dirty="0"/>
          </a:p>
        </p:txBody>
      </p:sp>
      <p:sp>
        <p:nvSpPr>
          <p:cNvPr id="3" name="Behavior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$60.73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2801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2-Day shipping has the highest average purchase; Standard is lowest at $58.46</a:t>
            </a:r>
            <a:endParaRPr lang="en-US" sz="1400" dirty="0"/>
          </a:p>
        </p:txBody>
      </p:sp>
      <p:sp>
        <p:nvSpPr>
          <p:cNvPr id="6" name="Behavior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2801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2801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PayPal is the top payment method, but all six sit between 16% and 17%</a:t>
            </a:r>
            <a:endParaRPr lang="en-US" sz="1400" dirty="0"/>
          </a:p>
        </p:txBody>
      </p:sp>
      <p:sp>
        <p:nvSpPr>
          <p:cNvPr id="9" name="Behavior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9718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$60.0K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9718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Fall is the strongest season for revenue; Summer is weakest at $55.8K</a:t>
            </a:r>
            <a:endParaRPr lang="en-US" sz="1400" dirty="0"/>
          </a:p>
        </p:txBody>
      </p:sp>
      <p:sp>
        <p:nvSpPr>
          <p:cNvPr id="12" name="Behavior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29718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7180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customers shop every 3 months or less often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Recommendations</a:t>
            </a:r>
            <a:endParaRPr lang="en-US" sz="3400" dirty="0"/>
          </a:p>
        </p:txBody>
      </p:sp>
      <p:sp>
        <p:nvSpPr>
          <p:cNvPr id="3" name="Recommendation 1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Tighten discounting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Discounts don't raise basket size. Replace blanket offers with targeted ones and test the result.</a:t>
            </a:r>
            <a:endParaRPr lang="en-US" sz="1400" dirty="0"/>
          </a:p>
        </p:txBody>
      </p:sp>
      <p:sp>
        <p:nvSpPr>
          <p:cNvPr id="6" name="Recommendation 2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Rebuild the subscription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spend uplift and no female subscribers. Add real perks and test them with women.</a:t>
            </a:r>
            <a:endParaRPr lang="en-US" sz="1400" dirty="0"/>
          </a:p>
        </p:txBody>
      </p:sp>
      <p:sp>
        <p:nvSpPr>
          <p:cNvPr id="9" name="Recommendation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Win new customers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Only 2% of customers are new. Shift some retention budget toward acquisition.</a:t>
            </a:r>
            <a:endParaRPr lang="en-US" sz="1400" dirty="0"/>
          </a:p>
        </p:txBody>
      </p:sp>
      <p:sp>
        <p:nvSpPr>
          <p:cNvPr id="12" name="Recommendation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Back Clothing and Accessories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11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They deliver 77% of revenue. Bundle top sellers and push them in Fall.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ail Insights">
  <a:themeElements>
    <a:clrScheme name="Retail Insights">
      <a:dk1>
        <a:srgbClr val="1B2B34"/>
      </a:dk1>
      <a:lt1>
        <a:srgbClr val="FFFFFF"/>
      </a:lt1>
      <a:dk2>
        <a:srgbClr val="0F3D3E"/>
      </a:dk2>
      <a:lt2>
        <a:srgbClr val="EEF3F2"/>
      </a:lt2>
      <a:accent1>
        <a:srgbClr val="0F6B6B"/>
      </a:accent1>
      <a:accent2>
        <a:srgbClr val="F26B50"/>
      </a:accent2>
      <a:accent3>
        <a:srgbClr val="F2B84B"/>
      </a:accent3>
      <a:accent4>
        <a:srgbClr val="6C8EAD"/>
      </a:accent4>
      <a:accent5>
        <a:srgbClr val="5E7470"/>
      </a:accent5>
      <a:accent6>
        <a:srgbClr val="B5483A"/>
      </a:accent6>
      <a:hlink>
        <a:srgbClr val="0F6B6B"/>
      </a:hlink>
      <a:folHlink>
        <a:srgbClr val="5E7470"/>
      </a:folHlink>
    </a:clrScheme>
    <a:fontScheme name="Retail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526</Words>
  <Application>Microsoft Macintosh PowerPoint</Application>
  <PresentationFormat>On-screen Show (16:9)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Retail Insights</vt:lpstr>
      <vt:lpstr>Retail Customer Behavior Analysis</vt:lpstr>
      <vt:lpstr>The business problem</vt:lpstr>
      <vt:lpstr>From raw data to insight</vt:lpstr>
      <vt:lpstr>Headline numbers</vt:lpstr>
      <vt:lpstr>Who is buying</vt:lpstr>
      <vt:lpstr>What is selling</vt:lpstr>
      <vt:lpstr>Discounts don't lift spend</vt:lpstr>
      <vt:lpstr>Loyal, but not subscribed</vt:lpstr>
      <vt:lpstr>How they shop</vt:lpstr>
      <vt:lpstr>Recommendations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Behavior Analysis</dc:title>
  <dc:subject>PptxGenJS Presentation</dc:subject>
  <dc:creator>PptxGenJS</dc:creator>
  <cp:lastModifiedBy>Kuldeep Singh</cp:lastModifiedBy>
  <cp:revision>2</cp:revision>
  <dcterms:created xsi:type="dcterms:W3CDTF">2026-10-03T20:17:16Z</dcterms:created>
  <dcterms:modified xsi:type="dcterms:W3CDTF">2026-10-03T20:52:41Z</dcterms:modified>
</cp:coreProperties>
</file>